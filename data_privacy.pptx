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9" r:id="rId12"/>
    <p:sldId id="266" r:id="rId13"/>
    <p:sldId id="267" r:id="rId14"/>
    <p:sldId id="268"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660"/>
  </p:normalViewPr>
  <p:slideViewPr>
    <p:cSldViewPr snapToGrid="0">
      <p:cViewPr varScale="1">
        <p:scale>
          <a:sx n="88" d="100"/>
          <a:sy n="88" d="100"/>
        </p:scale>
        <p:origin x="2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6340-D1E9-21E1-FF33-DE8088B11A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762CA5-4E12-82E1-76C9-210BD7264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C8ACB4-AFED-741B-D155-28B175323268}"/>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0EBBB864-DCAE-534D-ECD3-07B827CD6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322B1E-8D93-EF52-FFCE-8D2024FE4F83}"/>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2240326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983C-E50F-BD86-ACF1-59FC910DDC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34217-335A-C0B0-06D0-8036ECFA01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A8FE-D1BE-8858-AE21-E42ECF1A9EEA}"/>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940A53D6-0F71-E516-E72A-D5DA198C2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B020B-9030-7F07-ABE1-9806130B93AC}"/>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52600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02BE9-96EB-6E8E-AEDD-774E86F560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1440D7-B5D6-F004-3F23-890D216B65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594E69-6958-CB51-7343-19E376CF1EBA}"/>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E28A1D6A-07D0-D082-D51C-4DCE551290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1F4186-DC37-4DCB-24C0-0D2C9EED0E63}"/>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3805478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F232-1869-03E5-9750-AA2C5C6ADB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BF23F-A293-7B53-2DE2-BACC3CD6DD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A0CE26-85A5-1DEB-EED7-272BED2CEF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05F59C-8793-2F02-8A76-EE0E06022A77}"/>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6" name="Footer Placeholder 5">
            <a:extLst>
              <a:ext uri="{FF2B5EF4-FFF2-40B4-BE49-F238E27FC236}">
                <a16:creationId xmlns:a16="http://schemas.microsoft.com/office/drawing/2014/main" id="{C26BF7FE-63CF-67D4-9BAD-6D8DF8878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7C23F-DF0E-AE0A-8EB9-718055598169}"/>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2692857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7AC6-F891-A1A5-CD46-C8C2E4A9C3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F1D406-A486-ECED-AAB3-F5600A2D6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86572-11ED-E91A-C23B-73F1D15822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B5C815-3092-71F6-BACD-0C7597354D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87F302-01B7-7FC8-FADC-EB5B56C25F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05DF8D-C945-5DA5-9553-C334FDB7CEBA}"/>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8" name="Footer Placeholder 7">
            <a:extLst>
              <a:ext uri="{FF2B5EF4-FFF2-40B4-BE49-F238E27FC236}">
                <a16:creationId xmlns:a16="http://schemas.microsoft.com/office/drawing/2014/main" id="{76339EA1-94E6-ED24-AD1B-7B5CA637AC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6873DB-4D48-7DA4-8125-F6CA660A0452}"/>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15471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E8E0-F69F-E304-A081-9ED69209E4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D401D6-FA30-5731-AE3B-1D35918A7AB3}"/>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4" name="Footer Placeholder 3">
            <a:extLst>
              <a:ext uri="{FF2B5EF4-FFF2-40B4-BE49-F238E27FC236}">
                <a16:creationId xmlns:a16="http://schemas.microsoft.com/office/drawing/2014/main" id="{ACC5008F-E54E-C7C3-4CA0-D9B50AC766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3595AF-FB0B-A1A1-8142-D97786D08519}"/>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3415911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A5F9C4-DF82-374E-FB1D-D33D1BD6E785}"/>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3" name="Footer Placeholder 2">
            <a:extLst>
              <a:ext uri="{FF2B5EF4-FFF2-40B4-BE49-F238E27FC236}">
                <a16:creationId xmlns:a16="http://schemas.microsoft.com/office/drawing/2014/main" id="{3A8D7E7A-4147-D4C6-1F98-4C3B9D1237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25EB7B-BDD6-8239-232B-AC7C68E16221}"/>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413093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FBAA-F0D6-C6A5-B536-60294DCD9C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7DE821-0A77-FDB5-A44E-C55A00EC2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941A16-981D-356C-B4EE-4E5570DCA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639541-1E51-C0B6-6CAC-328827AEA2DC}"/>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6" name="Footer Placeholder 5">
            <a:extLst>
              <a:ext uri="{FF2B5EF4-FFF2-40B4-BE49-F238E27FC236}">
                <a16:creationId xmlns:a16="http://schemas.microsoft.com/office/drawing/2014/main" id="{8BBBBBA8-0741-9072-1E1E-1FAAD240FF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E06E15-9A2F-8924-4C7C-684C80620A8C}"/>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3823188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679C-7B17-6720-A3FC-2370A3C5B3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B2DE81-11E7-1E30-2C22-F9B1E517F5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930C9B-9B4E-8DF2-3599-F9D99C23F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AC0A3C-D51A-DECE-2007-98E143518BA1}"/>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6" name="Footer Placeholder 5">
            <a:extLst>
              <a:ext uri="{FF2B5EF4-FFF2-40B4-BE49-F238E27FC236}">
                <a16:creationId xmlns:a16="http://schemas.microsoft.com/office/drawing/2014/main" id="{C005A1C7-1FA0-EE39-47F2-66D39B68F3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5FA1E8-7A77-037C-9608-B53BDEF0DFAD}"/>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608264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FFB4F-1AF7-E867-9307-9E3E60DF4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780645-D053-EA5B-B1F6-61D62F09F4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C3018-8AEA-3396-AEC7-60CFFD1BD575}"/>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A0ABD50F-B2D4-C1DB-559D-BD2063EFF8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4D774-855B-E7C1-8B50-3EE4597897DC}"/>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3368836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B9F0ED-94CA-A05A-F449-9CC2360CE1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2AD2B9-6E3A-3908-9972-CC3F65760C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EDFFB-AEDB-4DB5-AB48-EAB0AAF3B4B6}"/>
              </a:ext>
            </a:extLst>
          </p:cNvPr>
          <p:cNvSpPr>
            <a:spLocks noGrp="1"/>
          </p:cNvSpPr>
          <p:nvPr>
            <p:ph type="dt" sz="half" idx="10"/>
          </p:nvPr>
        </p:nvSpPr>
        <p:spPr/>
        <p:txBody>
          <a:body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70C49AF1-7FA4-D701-A79D-62CE32719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2FAF6-6C21-9D86-6785-EA1FAC2AC471}"/>
              </a:ext>
            </a:extLst>
          </p:cNvPr>
          <p:cNvSpPr>
            <a:spLocks noGrp="1"/>
          </p:cNvSpPr>
          <p:nvPr>
            <p:ph type="sldNum" sz="quarter" idx="12"/>
          </p:nvPr>
        </p:nvSpPr>
        <p:spPr/>
        <p:txBody>
          <a:bodyPr/>
          <a:lstStyle/>
          <a:p>
            <a:fld id="{DA4B1DF5-7E9A-40F8-809E-9845F4E3F44C}" type="slidenum">
              <a:rPr lang="en-US" smtClean="0"/>
              <a:t>‹#›</a:t>
            </a:fld>
            <a:endParaRPr lang="en-US"/>
          </a:p>
        </p:txBody>
      </p:sp>
    </p:spTree>
    <p:extLst>
      <p:ext uri="{BB962C8B-B14F-4D97-AF65-F5344CB8AC3E}">
        <p14:creationId xmlns:p14="http://schemas.microsoft.com/office/powerpoint/2010/main" val="3247564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6FA560-BFA4-3BC2-183D-C57A30DBDB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580F64-1873-E7A3-1A7F-FE09B7ECEF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1DCE3-226C-CA0A-239A-DE2A988A40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A1476A-5129-4A9E-A5B1-B8F914F4A32B}" type="datetimeFigureOut">
              <a:rPr lang="en-US" smtClean="0"/>
              <a:t>7/23/2026</a:t>
            </a:fld>
            <a:endParaRPr lang="en-US"/>
          </a:p>
        </p:txBody>
      </p:sp>
      <p:sp>
        <p:nvSpPr>
          <p:cNvPr id="5" name="Footer Placeholder 4">
            <a:extLst>
              <a:ext uri="{FF2B5EF4-FFF2-40B4-BE49-F238E27FC236}">
                <a16:creationId xmlns:a16="http://schemas.microsoft.com/office/drawing/2014/main" id="{F2F3DE55-E53D-D954-324D-D6A2905830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C5C904-0042-6F02-26FF-12DE50A5C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4B1DF5-7E9A-40F8-809E-9845F4E3F44C}" type="slidenum">
              <a:rPr lang="en-US" smtClean="0"/>
              <a:t>‹#›</a:t>
            </a:fld>
            <a:endParaRPr lang="en-US"/>
          </a:p>
        </p:txBody>
      </p:sp>
    </p:spTree>
    <p:extLst>
      <p:ext uri="{BB962C8B-B14F-4D97-AF65-F5344CB8AC3E}">
        <p14:creationId xmlns:p14="http://schemas.microsoft.com/office/powerpoint/2010/main" val="3049952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188B-D64B-6461-ADC3-693C8D4ABB2F}"/>
              </a:ext>
            </a:extLst>
          </p:cNvPr>
          <p:cNvSpPr>
            <a:spLocks noGrp="1"/>
          </p:cNvSpPr>
          <p:nvPr>
            <p:ph type="ctrTitle"/>
          </p:nvPr>
        </p:nvSpPr>
        <p:spPr/>
        <p:txBody>
          <a:bodyPr/>
          <a:lstStyle/>
          <a:p>
            <a:r>
              <a:rPr lang="en-US" dirty="0"/>
              <a:t>Artificial Intelligence</a:t>
            </a:r>
          </a:p>
        </p:txBody>
      </p:sp>
      <p:sp>
        <p:nvSpPr>
          <p:cNvPr id="3" name="Subtitle 2">
            <a:extLst>
              <a:ext uri="{FF2B5EF4-FFF2-40B4-BE49-F238E27FC236}">
                <a16:creationId xmlns:a16="http://schemas.microsoft.com/office/drawing/2014/main" id="{7B5D624F-C62B-4626-10DD-7BC822106138}"/>
              </a:ext>
            </a:extLst>
          </p:cNvPr>
          <p:cNvSpPr>
            <a:spLocks noGrp="1"/>
          </p:cNvSpPr>
          <p:nvPr>
            <p:ph type="subTitle" idx="1"/>
          </p:nvPr>
        </p:nvSpPr>
        <p:spPr/>
        <p:txBody>
          <a:bodyPr>
            <a:normAutofit/>
          </a:bodyPr>
          <a:lstStyle/>
          <a:p>
            <a:r>
              <a:rPr lang="en-US" sz="4000" dirty="0"/>
              <a:t>Data Privacy</a:t>
            </a:r>
          </a:p>
        </p:txBody>
      </p:sp>
    </p:spTree>
    <p:extLst>
      <p:ext uri="{BB962C8B-B14F-4D97-AF65-F5344CB8AC3E}">
        <p14:creationId xmlns:p14="http://schemas.microsoft.com/office/powerpoint/2010/main" val="1391352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5525F-77D7-0D26-8F51-1646E583F748}"/>
              </a:ext>
            </a:extLst>
          </p:cNvPr>
          <p:cNvSpPr>
            <a:spLocks noGrp="1"/>
          </p:cNvSpPr>
          <p:nvPr>
            <p:ph type="title"/>
          </p:nvPr>
        </p:nvSpPr>
        <p:spPr>
          <a:xfrm>
            <a:off x="294524" y="-239937"/>
            <a:ext cx="10515600" cy="1325563"/>
          </a:xfrm>
        </p:spPr>
        <p:txBody>
          <a:bodyPr/>
          <a:lstStyle/>
          <a:p>
            <a:r>
              <a:rPr lang="en-US" dirty="0"/>
              <a:t>Data Types</a:t>
            </a:r>
          </a:p>
        </p:txBody>
      </p:sp>
      <p:sp>
        <p:nvSpPr>
          <p:cNvPr id="5" name="TextBox 4">
            <a:extLst>
              <a:ext uri="{FF2B5EF4-FFF2-40B4-BE49-F238E27FC236}">
                <a16:creationId xmlns:a16="http://schemas.microsoft.com/office/drawing/2014/main" id="{A2D7E4F5-7D39-472B-02AD-68971BBAE909}"/>
              </a:ext>
            </a:extLst>
          </p:cNvPr>
          <p:cNvSpPr txBox="1"/>
          <p:nvPr/>
        </p:nvSpPr>
        <p:spPr>
          <a:xfrm>
            <a:off x="402770" y="835024"/>
            <a:ext cx="10515599" cy="1938992"/>
          </a:xfrm>
          <a:prstGeom prst="rect">
            <a:avLst/>
          </a:prstGeom>
          <a:noFill/>
        </p:spPr>
        <p:txBody>
          <a:bodyPr wrap="square">
            <a:spAutoFit/>
          </a:bodyPr>
          <a:lstStyle/>
          <a:p>
            <a:pPr marL="0" marR="0" indent="0" algn="l">
              <a:buNone/>
            </a:pPr>
            <a:r>
              <a:rPr lang="en-US" sz="2000" b="1" i="0" spc="0" dirty="0">
                <a:solidFill>
                  <a:srgbClr val="05192D"/>
                </a:solidFill>
                <a:effectLst/>
                <a:latin typeface="Times New Roman" panose="02020603050405020304" pitchFamily="18" charset="0"/>
                <a:cs typeface="Times New Roman" panose="02020603050405020304" pitchFamily="18" charset="0"/>
              </a:rPr>
              <a:t>Sensitive PII</a:t>
            </a:r>
          </a:p>
          <a:p>
            <a:r>
              <a:rPr lang="en-US" sz="2000" b="0" i="0" dirty="0">
                <a:solidFill>
                  <a:srgbClr val="05192D"/>
                </a:solidFill>
                <a:effectLst/>
                <a:latin typeface="Times New Roman" panose="02020603050405020304" pitchFamily="18" charset="0"/>
                <a:cs typeface="Times New Roman" panose="02020603050405020304" pitchFamily="18" charset="0"/>
              </a:rPr>
              <a:t>Examples include full names, Social Security Numbers, financial information, or medical records. It must be inaccessible to outside parties unless permission is granted. If not, regulations such as the General Data Protection Regulation, or GDPR, can fine companies for up to €20 million or 4% of their annual turnover. </a:t>
            </a:r>
          </a:p>
          <a:p>
            <a:pPr marL="0" marR="0" indent="0" algn="l">
              <a:buNone/>
            </a:pPr>
            <a:endParaRPr lang="en-US" sz="2000" b="0" i="0" dirty="0">
              <a:solidFill>
                <a:srgbClr val="05192D"/>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79735D-F21A-7C94-206C-17956EBB1A8A}"/>
              </a:ext>
            </a:extLst>
          </p:cNvPr>
          <p:cNvSpPr txBox="1"/>
          <p:nvPr/>
        </p:nvSpPr>
        <p:spPr>
          <a:xfrm>
            <a:off x="402770" y="2661791"/>
            <a:ext cx="10515599" cy="1908215"/>
          </a:xfrm>
          <a:prstGeom prst="rect">
            <a:avLst/>
          </a:prstGeom>
          <a:noFill/>
        </p:spPr>
        <p:txBody>
          <a:bodyPr wrap="square">
            <a:spAutoFit/>
          </a:bodyPr>
          <a:lstStyle/>
          <a:p>
            <a:pPr marR="0" indent="0">
              <a:buNone/>
            </a:pPr>
            <a:r>
              <a:rPr lang="en-US" sz="2000" b="1" dirty="0">
                <a:solidFill>
                  <a:srgbClr val="05192D"/>
                </a:solidFill>
                <a:latin typeface="Times New Roman" panose="02020603050405020304" pitchFamily="18" charset="0"/>
                <a:cs typeface="Times New Roman" panose="02020603050405020304" pitchFamily="18" charset="0"/>
              </a:rPr>
              <a:t>Non-sensitive PII</a:t>
            </a:r>
          </a:p>
          <a:p>
            <a:r>
              <a:rPr lang="en-US" sz="2000" dirty="0">
                <a:solidFill>
                  <a:srgbClr val="05192D"/>
                </a:solidFill>
                <a:latin typeface="Times New Roman" panose="02020603050405020304" pitchFamily="18" charset="0"/>
                <a:cs typeface="Times New Roman" panose="02020603050405020304" pitchFamily="18" charset="0"/>
              </a:rPr>
              <a:t>Non-Sensitive PII is data that cannot be used alone to trace a person, such as gender, occupation, zip code, or city of birth. </a:t>
            </a:r>
            <a:r>
              <a:rPr lang="en-US" dirty="0"/>
              <a:t>However, these examples contain quasi-identifiers that can still be used with other PII to identify someone. Such as President of America born in NY etc.</a:t>
            </a:r>
          </a:p>
          <a:p>
            <a:br>
              <a:rPr lang="en-US" sz="2000" dirty="0"/>
            </a:br>
            <a:endParaRPr lang="en-US" sz="2000" dirty="0">
              <a:solidFill>
                <a:srgbClr val="05192D"/>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4FF4C2A-3AF3-0036-A049-B9E4B2F6914E}"/>
              </a:ext>
            </a:extLst>
          </p:cNvPr>
          <p:cNvPicPr>
            <a:picLocks noChangeAspect="1"/>
          </p:cNvPicPr>
          <p:nvPr/>
        </p:nvPicPr>
        <p:blipFill>
          <a:blip r:embed="rId2"/>
          <a:stretch>
            <a:fillRect/>
          </a:stretch>
        </p:blipFill>
        <p:spPr>
          <a:xfrm>
            <a:off x="6760028" y="3805337"/>
            <a:ext cx="4017436" cy="2892554"/>
          </a:xfrm>
          <a:prstGeom prst="rect">
            <a:avLst/>
          </a:prstGeom>
        </p:spPr>
      </p:pic>
      <p:pic>
        <p:nvPicPr>
          <p:cNvPr id="11" name="Picture 10">
            <a:extLst>
              <a:ext uri="{FF2B5EF4-FFF2-40B4-BE49-F238E27FC236}">
                <a16:creationId xmlns:a16="http://schemas.microsoft.com/office/drawing/2014/main" id="{C2818215-59E1-D755-40E4-7B3DA6941CEF}"/>
              </a:ext>
            </a:extLst>
          </p:cNvPr>
          <p:cNvPicPr>
            <a:picLocks noChangeAspect="1"/>
          </p:cNvPicPr>
          <p:nvPr/>
        </p:nvPicPr>
        <p:blipFill>
          <a:blip r:embed="rId3"/>
          <a:stretch>
            <a:fillRect/>
          </a:stretch>
        </p:blipFill>
        <p:spPr>
          <a:xfrm>
            <a:off x="1045031" y="4222315"/>
            <a:ext cx="4746169" cy="2475576"/>
          </a:xfrm>
          <a:prstGeom prst="rect">
            <a:avLst/>
          </a:prstGeom>
        </p:spPr>
      </p:pic>
    </p:spTree>
    <p:extLst>
      <p:ext uri="{BB962C8B-B14F-4D97-AF65-F5344CB8AC3E}">
        <p14:creationId xmlns:p14="http://schemas.microsoft.com/office/powerpoint/2010/main" val="2059826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B0CD-B091-944E-77DF-DD85E90FFAC9}"/>
              </a:ext>
            </a:extLst>
          </p:cNvPr>
          <p:cNvSpPr>
            <a:spLocks noGrp="1"/>
          </p:cNvSpPr>
          <p:nvPr>
            <p:ph type="title"/>
          </p:nvPr>
        </p:nvSpPr>
        <p:spPr/>
        <p:txBody>
          <a:bodyPr/>
          <a:lstStyle/>
          <a:p>
            <a:r>
              <a:rPr lang="en-US" dirty="0"/>
              <a:t>Anonymization techniques</a:t>
            </a:r>
          </a:p>
        </p:txBody>
      </p:sp>
      <p:sp>
        <p:nvSpPr>
          <p:cNvPr id="3" name="Content Placeholder 2">
            <a:extLst>
              <a:ext uri="{FF2B5EF4-FFF2-40B4-BE49-F238E27FC236}">
                <a16:creationId xmlns:a16="http://schemas.microsoft.com/office/drawing/2014/main" id="{1F175664-8DB5-B4C4-79D1-46B36429BCD1}"/>
              </a:ext>
            </a:extLst>
          </p:cNvPr>
          <p:cNvSpPr>
            <a:spLocks noGrp="1"/>
          </p:cNvSpPr>
          <p:nvPr>
            <p:ph idx="1"/>
          </p:nvPr>
        </p:nvSpPr>
        <p:spPr/>
        <p:txBody>
          <a:bodyPr/>
          <a:lstStyle/>
          <a:p>
            <a:pPr marL="0" indent="0">
              <a:buNone/>
            </a:pPr>
            <a:r>
              <a:rPr lang="en-US" dirty="0"/>
              <a:t>data suppression, </a:t>
            </a:r>
          </a:p>
          <a:p>
            <a:pPr marL="0" indent="0">
              <a:buNone/>
            </a:pPr>
            <a:r>
              <a:rPr lang="en-US" dirty="0"/>
              <a:t>masking, </a:t>
            </a:r>
          </a:p>
          <a:p>
            <a:pPr marL="0" indent="0">
              <a:buNone/>
            </a:pPr>
            <a:r>
              <a:rPr lang="en-US" dirty="0"/>
              <a:t>data generation, and </a:t>
            </a:r>
          </a:p>
          <a:p>
            <a:pPr marL="0" indent="0">
              <a:buNone/>
            </a:pPr>
            <a:r>
              <a:rPr lang="en-US" dirty="0"/>
              <a:t>generalization. </a:t>
            </a:r>
            <a:br>
              <a:rPr lang="en-US" dirty="0"/>
            </a:br>
            <a:endParaRPr lang="en-US" dirty="0"/>
          </a:p>
        </p:txBody>
      </p:sp>
      <p:pic>
        <p:nvPicPr>
          <p:cNvPr id="4" name="Picture 3" descr="Data_Anonymization_Techniques">
            <a:extLst>
              <a:ext uri="{FF2B5EF4-FFF2-40B4-BE49-F238E27FC236}">
                <a16:creationId xmlns:a16="http://schemas.microsoft.com/office/drawing/2014/main" id="{DBF666C8-25F5-B06A-64C8-1DB64392A68F}"/>
              </a:ext>
            </a:extLst>
          </p:cNvPr>
          <p:cNvPicPr>
            <a:picLocks noChangeAspect="1"/>
          </p:cNvPicPr>
          <p:nvPr/>
        </p:nvPicPr>
        <p:blipFill>
          <a:blip r:embed="rId2"/>
          <a:stretch>
            <a:fillRect/>
          </a:stretch>
        </p:blipFill>
        <p:spPr>
          <a:xfrm>
            <a:off x="4452258" y="1927565"/>
            <a:ext cx="6433457" cy="4007046"/>
          </a:xfrm>
          <a:prstGeom prst="rect">
            <a:avLst/>
          </a:prstGeom>
        </p:spPr>
      </p:pic>
    </p:spTree>
    <p:extLst>
      <p:ext uri="{BB962C8B-B14F-4D97-AF65-F5344CB8AC3E}">
        <p14:creationId xmlns:p14="http://schemas.microsoft.com/office/powerpoint/2010/main" val="1936244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5297BF-DB78-DABF-BD05-B65C88115437}"/>
              </a:ext>
            </a:extLst>
          </p:cNvPr>
          <p:cNvPicPr>
            <a:picLocks noChangeAspect="1"/>
          </p:cNvPicPr>
          <p:nvPr/>
        </p:nvPicPr>
        <p:blipFill>
          <a:blip r:embed="rId2"/>
          <a:stretch>
            <a:fillRect/>
          </a:stretch>
        </p:blipFill>
        <p:spPr>
          <a:xfrm>
            <a:off x="0" y="0"/>
            <a:ext cx="6468378" cy="2372056"/>
          </a:xfrm>
          <a:prstGeom prst="rect">
            <a:avLst/>
          </a:prstGeom>
        </p:spPr>
      </p:pic>
      <p:pic>
        <p:nvPicPr>
          <p:cNvPr id="7" name="Picture 6">
            <a:extLst>
              <a:ext uri="{FF2B5EF4-FFF2-40B4-BE49-F238E27FC236}">
                <a16:creationId xmlns:a16="http://schemas.microsoft.com/office/drawing/2014/main" id="{F6D8F74F-041A-645C-AA82-49C150515600}"/>
              </a:ext>
            </a:extLst>
          </p:cNvPr>
          <p:cNvPicPr>
            <a:picLocks noChangeAspect="1"/>
          </p:cNvPicPr>
          <p:nvPr/>
        </p:nvPicPr>
        <p:blipFill>
          <a:blip r:embed="rId3"/>
          <a:stretch>
            <a:fillRect/>
          </a:stretch>
        </p:blipFill>
        <p:spPr>
          <a:xfrm>
            <a:off x="85953" y="3114153"/>
            <a:ext cx="8764223" cy="3743847"/>
          </a:xfrm>
          <a:prstGeom prst="rect">
            <a:avLst/>
          </a:prstGeom>
        </p:spPr>
      </p:pic>
      <p:pic>
        <p:nvPicPr>
          <p:cNvPr id="9" name="Picture 8">
            <a:extLst>
              <a:ext uri="{FF2B5EF4-FFF2-40B4-BE49-F238E27FC236}">
                <a16:creationId xmlns:a16="http://schemas.microsoft.com/office/drawing/2014/main" id="{2A315895-87B7-DC8C-3312-C844D6E280ED}"/>
              </a:ext>
            </a:extLst>
          </p:cNvPr>
          <p:cNvPicPr>
            <a:picLocks noChangeAspect="1"/>
          </p:cNvPicPr>
          <p:nvPr/>
        </p:nvPicPr>
        <p:blipFill>
          <a:blip r:embed="rId4"/>
          <a:stretch>
            <a:fillRect/>
          </a:stretch>
        </p:blipFill>
        <p:spPr>
          <a:xfrm>
            <a:off x="6468378" y="147466"/>
            <a:ext cx="5358054" cy="3293130"/>
          </a:xfrm>
          <a:prstGeom prst="rect">
            <a:avLst/>
          </a:prstGeom>
        </p:spPr>
      </p:pic>
    </p:spTree>
    <p:extLst>
      <p:ext uri="{BB962C8B-B14F-4D97-AF65-F5344CB8AC3E}">
        <p14:creationId xmlns:p14="http://schemas.microsoft.com/office/powerpoint/2010/main" val="3544648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21EA45-309B-B7D8-A3EF-24CBBF6E4411}"/>
              </a:ext>
            </a:extLst>
          </p:cNvPr>
          <p:cNvSpPr txBox="1"/>
          <p:nvPr/>
        </p:nvSpPr>
        <p:spPr>
          <a:xfrm>
            <a:off x="500741" y="364603"/>
            <a:ext cx="11201401" cy="1015663"/>
          </a:xfrm>
          <a:prstGeom prst="rect">
            <a:avLst/>
          </a:prstGeom>
          <a:noFill/>
        </p:spPr>
        <p:txBody>
          <a:bodyPr wrap="square">
            <a:spAutoFit/>
          </a:bodyPr>
          <a:lstStyle/>
          <a:p>
            <a:pPr algn="just"/>
            <a:r>
              <a:rPr lang="en-US" sz="2000" dirty="0">
                <a:solidFill>
                  <a:srgbClr val="05192D"/>
                </a:solidFill>
                <a:latin typeface="Times New Roman" panose="02020603050405020304" pitchFamily="18" charset="0"/>
                <a:cs typeface="Times New Roman" panose="02020603050405020304" pitchFamily="18" charset="0"/>
              </a:rPr>
              <a:t>Suppression can fail for linkage or re-identification attacks. That's when your dataset is linked to other public data sources. Here, even after suppression, we can link the voter registration data with medical records and discover Alice's disease.</a:t>
            </a:r>
          </a:p>
        </p:txBody>
      </p:sp>
      <p:pic>
        <p:nvPicPr>
          <p:cNvPr id="7" name="Picture 6">
            <a:extLst>
              <a:ext uri="{FF2B5EF4-FFF2-40B4-BE49-F238E27FC236}">
                <a16:creationId xmlns:a16="http://schemas.microsoft.com/office/drawing/2014/main" id="{FC66B977-5B8A-7C08-95AA-B0574D235C66}"/>
              </a:ext>
            </a:extLst>
          </p:cNvPr>
          <p:cNvPicPr>
            <a:picLocks noChangeAspect="1"/>
          </p:cNvPicPr>
          <p:nvPr/>
        </p:nvPicPr>
        <p:blipFill>
          <a:blip r:embed="rId2"/>
          <a:stretch>
            <a:fillRect/>
          </a:stretch>
        </p:blipFill>
        <p:spPr>
          <a:xfrm>
            <a:off x="1575756" y="2003379"/>
            <a:ext cx="9040487" cy="3896269"/>
          </a:xfrm>
          <a:prstGeom prst="rect">
            <a:avLst/>
          </a:prstGeom>
        </p:spPr>
      </p:pic>
    </p:spTree>
    <p:extLst>
      <p:ext uri="{BB962C8B-B14F-4D97-AF65-F5344CB8AC3E}">
        <p14:creationId xmlns:p14="http://schemas.microsoft.com/office/powerpoint/2010/main" val="850426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1BCB68-3E9B-4481-8E58-F60E646D23CC}"/>
              </a:ext>
            </a:extLst>
          </p:cNvPr>
          <p:cNvPicPr>
            <a:picLocks noChangeAspect="1"/>
          </p:cNvPicPr>
          <p:nvPr/>
        </p:nvPicPr>
        <p:blipFill>
          <a:blip r:embed="rId2"/>
          <a:stretch>
            <a:fillRect/>
          </a:stretch>
        </p:blipFill>
        <p:spPr>
          <a:xfrm>
            <a:off x="555147" y="932705"/>
            <a:ext cx="7837739" cy="1101050"/>
          </a:xfrm>
          <a:prstGeom prst="rect">
            <a:avLst/>
          </a:prstGeom>
        </p:spPr>
      </p:pic>
      <p:pic>
        <p:nvPicPr>
          <p:cNvPr id="7" name="Picture 6">
            <a:extLst>
              <a:ext uri="{FF2B5EF4-FFF2-40B4-BE49-F238E27FC236}">
                <a16:creationId xmlns:a16="http://schemas.microsoft.com/office/drawing/2014/main" id="{0CDB9B05-323B-28EC-7D97-A2ED05038E0C}"/>
              </a:ext>
            </a:extLst>
          </p:cNvPr>
          <p:cNvPicPr>
            <a:picLocks noChangeAspect="1"/>
          </p:cNvPicPr>
          <p:nvPr/>
        </p:nvPicPr>
        <p:blipFill>
          <a:blip r:embed="rId3"/>
          <a:stretch>
            <a:fillRect/>
          </a:stretch>
        </p:blipFill>
        <p:spPr>
          <a:xfrm>
            <a:off x="8565231" y="400604"/>
            <a:ext cx="3605840" cy="1634302"/>
          </a:xfrm>
          <a:prstGeom prst="rect">
            <a:avLst/>
          </a:prstGeom>
        </p:spPr>
      </p:pic>
      <p:sp>
        <p:nvSpPr>
          <p:cNvPr id="8" name="Rectangle 7">
            <a:extLst>
              <a:ext uri="{FF2B5EF4-FFF2-40B4-BE49-F238E27FC236}">
                <a16:creationId xmlns:a16="http://schemas.microsoft.com/office/drawing/2014/main" id="{67F315C5-1D29-80AD-CA8E-5B34C8B18D61}"/>
              </a:ext>
            </a:extLst>
          </p:cNvPr>
          <p:cNvSpPr/>
          <p:nvPr/>
        </p:nvSpPr>
        <p:spPr>
          <a:xfrm>
            <a:off x="272144" y="902393"/>
            <a:ext cx="2030278" cy="46690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56930F78-FB0D-5615-35B0-0E12A8918B6B}"/>
              </a:ext>
            </a:extLst>
          </p:cNvPr>
          <p:cNvSpPr/>
          <p:nvPr/>
        </p:nvSpPr>
        <p:spPr>
          <a:xfrm>
            <a:off x="8565231" y="399881"/>
            <a:ext cx="1927007" cy="24093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BF824D5-B302-9577-78A3-CEF02CEB69D1}"/>
              </a:ext>
            </a:extLst>
          </p:cNvPr>
          <p:cNvPicPr>
            <a:picLocks noChangeAspect="1"/>
          </p:cNvPicPr>
          <p:nvPr/>
        </p:nvPicPr>
        <p:blipFill>
          <a:blip r:embed="rId4"/>
          <a:stretch>
            <a:fillRect/>
          </a:stretch>
        </p:blipFill>
        <p:spPr>
          <a:xfrm>
            <a:off x="555147" y="2641012"/>
            <a:ext cx="5680243" cy="2846242"/>
          </a:xfrm>
          <a:prstGeom prst="rect">
            <a:avLst/>
          </a:prstGeom>
        </p:spPr>
      </p:pic>
      <p:sp>
        <p:nvSpPr>
          <p:cNvPr id="13" name="TextBox 12">
            <a:extLst>
              <a:ext uri="{FF2B5EF4-FFF2-40B4-BE49-F238E27FC236}">
                <a16:creationId xmlns:a16="http://schemas.microsoft.com/office/drawing/2014/main" id="{89E6E2B3-291E-1C84-3BEF-C58A7E130428}"/>
              </a:ext>
            </a:extLst>
          </p:cNvPr>
          <p:cNvSpPr txBox="1"/>
          <p:nvPr/>
        </p:nvSpPr>
        <p:spPr>
          <a:xfrm>
            <a:off x="555147" y="640811"/>
            <a:ext cx="1932452" cy="461665"/>
          </a:xfrm>
          <a:prstGeom prst="rect">
            <a:avLst/>
          </a:prstGeom>
          <a:noFill/>
        </p:spPr>
        <p:txBody>
          <a:bodyPr wrap="none" rtlCol="0">
            <a:spAutoFit/>
          </a:bodyPr>
          <a:lstStyle/>
          <a:p>
            <a:r>
              <a:rPr lang="en-US" sz="2400" b="1" dirty="0"/>
              <a:t>Data Masking</a:t>
            </a:r>
          </a:p>
        </p:txBody>
      </p:sp>
      <p:pic>
        <p:nvPicPr>
          <p:cNvPr id="15" name="Picture 14">
            <a:extLst>
              <a:ext uri="{FF2B5EF4-FFF2-40B4-BE49-F238E27FC236}">
                <a16:creationId xmlns:a16="http://schemas.microsoft.com/office/drawing/2014/main" id="{9EEC9641-1D3F-C6E2-8F52-9DBAEC25DDFE}"/>
              </a:ext>
            </a:extLst>
          </p:cNvPr>
          <p:cNvPicPr>
            <a:picLocks noChangeAspect="1"/>
          </p:cNvPicPr>
          <p:nvPr/>
        </p:nvPicPr>
        <p:blipFill>
          <a:blip r:embed="rId5"/>
          <a:stretch>
            <a:fillRect/>
          </a:stretch>
        </p:blipFill>
        <p:spPr>
          <a:xfrm>
            <a:off x="6235390" y="2707143"/>
            <a:ext cx="5764412" cy="2115952"/>
          </a:xfrm>
          <a:prstGeom prst="rect">
            <a:avLst/>
          </a:prstGeom>
        </p:spPr>
      </p:pic>
    </p:spTree>
    <p:extLst>
      <p:ext uri="{BB962C8B-B14F-4D97-AF65-F5344CB8AC3E}">
        <p14:creationId xmlns:p14="http://schemas.microsoft.com/office/powerpoint/2010/main" val="471474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E18B17-61BA-2BF4-2AF6-5AF355EAF82B}"/>
              </a:ext>
            </a:extLst>
          </p:cNvPr>
          <p:cNvPicPr>
            <a:picLocks noChangeAspect="1"/>
          </p:cNvPicPr>
          <p:nvPr/>
        </p:nvPicPr>
        <p:blipFill>
          <a:blip r:embed="rId2"/>
          <a:stretch>
            <a:fillRect/>
          </a:stretch>
        </p:blipFill>
        <p:spPr>
          <a:xfrm>
            <a:off x="97971" y="555745"/>
            <a:ext cx="8337725" cy="2873254"/>
          </a:xfrm>
          <a:prstGeom prst="rect">
            <a:avLst/>
          </a:prstGeom>
        </p:spPr>
      </p:pic>
      <p:pic>
        <p:nvPicPr>
          <p:cNvPr id="7" name="Picture 6">
            <a:extLst>
              <a:ext uri="{FF2B5EF4-FFF2-40B4-BE49-F238E27FC236}">
                <a16:creationId xmlns:a16="http://schemas.microsoft.com/office/drawing/2014/main" id="{E5D22CFA-44E7-6DED-5975-51E3AEDC3AE1}"/>
              </a:ext>
            </a:extLst>
          </p:cNvPr>
          <p:cNvPicPr>
            <a:picLocks noChangeAspect="1"/>
          </p:cNvPicPr>
          <p:nvPr/>
        </p:nvPicPr>
        <p:blipFill>
          <a:blip r:embed="rId3"/>
          <a:stretch>
            <a:fillRect/>
          </a:stretch>
        </p:blipFill>
        <p:spPr>
          <a:xfrm>
            <a:off x="265435" y="3429000"/>
            <a:ext cx="8170261" cy="706416"/>
          </a:xfrm>
          <a:prstGeom prst="rect">
            <a:avLst/>
          </a:prstGeom>
        </p:spPr>
      </p:pic>
      <p:pic>
        <p:nvPicPr>
          <p:cNvPr id="9" name="Picture 8">
            <a:extLst>
              <a:ext uri="{FF2B5EF4-FFF2-40B4-BE49-F238E27FC236}">
                <a16:creationId xmlns:a16="http://schemas.microsoft.com/office/drawing/2014/main" id="{659D374A-A97E-DB04-164F-E64DB34221E3}"/>
              </a:ext>
            </a:extLst>
          </p:cNvPr>
          <p:cNvPicPr>
            <a:picLocks noChangeAspect="1"/>
          </p:cNvPicPr>
          <p:nvPr/>
        </p:nvPicPr>
        <p:blipFill>
          <a:blip r:embed="rId4"/>
          <a:stretch>
            <a:fillRect/>
          </a:stretch>
        </p:blipFill>
        <p:spPr>
          <a:xfrm>
            <a:off x="8924072" y="496358"/>
            <a:ext cx="2486372" cy="3639058"/>
          </a:xfrm>
          <a:prstGeom prst="rect">
            <a:avLst/>
          </a:prstGeom>
        </p:spPr>
      </p:pic>
    </p:spTree>
    <p:extLst>
      <p:ext uri="{BB962C8B-B14F-4D97-AF65-F5344CB8AC3E}">
        <p14:creationId xmlns:p14="http://schemas.microsoft.com/office/powerpoint/2010/main" val="166806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A72C86-401E-9C99-52D9-B1B800E556F3}"/>
              </a:ext>
            </a:extLst>
          </p:cNvPr>
          <p:cNvPicPr>
            <a:picLocks noChangeAspect="1"/>
          </p:cNvPicPr>
          <p:nvPr/>
        </p:nvPicPr>
        <p:blipFill>
          <a:blip r:embed="rId2"/>
          <a:stretch>
            <a:fillRect/>
          </a:stretch>
        </p:blipFill>
        <p:spPr>
          <a:xfrm>
            <a:off x="0" y="103523"/>
            <a:ext cx="7130143" cy="3763572"/>
          </a:xfrm>
          <a:prstGeom prst="rect">
            <a:avLst/>
          </a:prstGeom>
        </p:spPr>
      </p:pic>
      <p:pic>
        <p:nvPicPr>
          <p:cNvPr id="7" name="Picture 6">
            <a:extLst>
              <a:ext uri="{FF2B5EF4-FFF2-40B4-BE49-F238E27FC236}">
                <a16:creationId xmlns:a16="http://schemas.microsoft.com/office/drawing/2014/main" id="{2EBED3CA-C7E3-136A-016E-3FB5265E24B3}"/>
              </a:ext>
            </a:extLst>
          </p:cNvPr>
          <p:cNvPicPr>
            <a:picLocks noChangeAspect="1"/>
          </p:cNvPicPr>
          <p:nvPr/>
        </p:nvPicPr>
        <p:blipFill>
          <a:blip r:embed="rId3"/>
          <a:srcRect t="4084"/>
          <a:stretch>
            <a:fillRect/>
          </a:stretch>
        </p:blipFill>
        <p:spPr>
          <a:xfrm>
            <a:off x="7782160" y="446314"/>
            <a:ext cx="3746003" cy="5551714"/>
          </a:xfrm>
          <a:prstGeom prst="rect">
            <a:avLst/>
          </a:prstGeom>
        </p:spPr>
      </p:pic>
      <p:pic>
        <p:nvPicPr>
          <p:cNvPr id="9" name="Picture 8">
            <a:extLst>
              <a:ext uri="{FF2B5EF4-FFF2-40B4-BE49-F238E27FC236}">
                <a16:creationId xmlns:a16="http://schemas.microsoft.com/office/drawing/2014/main" id="{DE5A8667-4B05-AA39-182C-A86460315607}"/>
              </a:ext>
            </a:extLst>
          </p:cNvPr>
          <p:cNvPicPr>
            <a:picLocks noChangeAspect="1"/>
          </p:cNvPicPr>
          <p:nvPr/>
        </p:nvPicPr>
        <p:blipFill>
          <a:blip r:embed="rId4"/>
          <a:stretch>
            <a:fillRect/>
          </a:stretch>
        </p:blipFill>
        <p:spPr>
          <a:xfrm>
            <a:off x="3531352" y="3929742"/>
            <a:ext cx="3598791" cy="2206924"/>
          </a:xfrm>
          <a:prstGeom prst="rect">
            <a:avLst/>
          </a:prstGeom>
        </p:spPr>
      </p:pic>
      <p:sp>
        <p:nvSpPr>
          <p:cNvPr id="10" name="Rectangle 9">
            <a:extLst>
              <a:ext uri="{FF2B5EF4-FFF2-40B4-BE49-F238E27FC236}">
                <a16:creationId xmlns:a16="http://schemas.microsoft.com/office/drawing/2014/main" id="{9ECFA193-A5AF-CB45-FA34-21E11CB6B744}"/>
              </a:ext>
            </a:extLst>
          </p:cNvPr>
          <p:cNvSpPr/>
          <p:nvPr/>
        </p:nvSpPr>
        <p:spPr>
          <a:xfrm>
            <a:off x="7782159" y="3984171"/>
            <a:ext cx="3746003" cy="340124"/>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Binning</a:t>
            </a:r>
          </a:p>
        </p:txBody>
      </p:sp>
      <p:sp>
        <p:nvSpPr>
          <p:cNvPr id="12" name="Rectangle 11">
            <a:extLst>
              <a:ext uri="{FF2B5EF4-FFF2-40B4-BE49-F238E27FC236}">
                <a16:creationId xmlns:a16="http://schemas.microsoft.com/office/drawing/2014/main" id="{DBC786DA-95CD-E1BC-EF63-4308BB128512}"/>
              </a:ext>
            </a:extLst>
          </p:cNvPr>
          <p:cNvSpPr/>
          <p:nvPr/>
        </p:nvSpPr>
        <p:spPr>
          <a:xfrm>
            <a:off x="5497286" y="3984171"/>
            <a:ext cx="1632857" cy="23948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Categorization</a:t>
            </a:r>
          </a:p>
        </p:txBody>
      </p:sp>
      <p:pic>
        <p:nvPicPr>
          <p:cNvPr id="16" name="Picture 15">
            <a:extLst>
              <a:ext uri="{FF2B5EF4-FFF2-40B4-BE49-F238E27FC236}">
                <a16:creationId xmlns:a16="http://schemas.microsoft.com/office/drawing/2014/main" id="{D93D063C-2C41-EB08-6AAD-9F9D7BD88849}"/>
              </a:ext>
            </a:extLst>
          </p:cNvPr>
          <p:cNvPicPr>
            <a:picLocks noChangeAspect="1"/>
          </p:cNvPicPr>
          <p:nvPr/>
        </p:nvPicPr>
        <p:blipFill>
          <a:blip r:embed="rId5"/>
          <a:stretch>
            <a:fillRect/>
          </a:stretch>
        </p:blipFill>
        <p:spPr>
          <a:xfrm>
            <a:off x="159408" y="6191095"/>
            <a:ext cx="6811326" cy="600159"/>
          </a:xfrm>
          <a:prstGeom prst="rect">
            <a:avLst/>
          </a:prstGeom>
        </p:spPr>
      </p:pic>
    </p:spTree>
    <p:extLst>
      <p:ext uri="{BB962C8B-B14F-4D97-AF65-F5344CB8AC3E}">
        <p14:creationId xmlns:p14="http://schemas.microsoft.com/office/powerpoint/2010/main" val="292193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7C31527-B418-0173-02D0-55FEA1FECBF6}"/>
              </a:ext>
            </a:extLst>
          </p:cNvPr>
          <p:cNvPicPr>
            <a:picLocks noChangeAspect="1"/>
          </p:cNvPicPr>
          <p:nvPr/>
        </p:nvPicPr>
        <p:blipFill>
          <a:blip r:embed="rId2"/>
          <a:stretch>
            <a:fillRect/>
          </a:stretch>
        </p:blipFill>
        <p:spPr>
          <a:xfrm>
            <a:off x="271919" y="327225"/>
            <a:ext cx="3200847" cy="390580"/>
          </a:xfrm>
          <a:prstGeom prst="rect">
            <a:avLst/>
          </a:prstGeom>
        </p:spPr>
      </p:pic>
      <p:pic>
        <p:nvPicPr>
          <p:cNvPr id="9" name="Picture 8">
            <a:extLst>
              <a:ext uri="{FF2B5EF4-FFF2-40B4-BE49-F238E27FC236}">
                <a16:creationId xmlns:a16="http://schemas.microsoft.com/office/drawing/2014/main" id="{26293B53-0BC7-4500-E950-E3BDD0F4E453}"/>
              </a:ext>
            </a:extLst>
          </p:cNvPr>
          <p:cNvPicPr>
            <a:picLocks noChangeAspect="1"/>
          </p:cNvPicPr>
          <p:nvPr/>
        </p:nvPicPr>
        <p:blipFill>
          <a:blip r:embed="rId3"/>
          <a:stretch>
            <a:fillRect/>
          </a:stretch>
        </p:blipFill>
        <p:spPr>
          <a:xfrm>
            <a:off x="271919" y="1006796"/>
            <a:ext cx="3581900" cy="1905266"/>
          </a:xfrm>
          <a:prstGeom prst="rect">
            <a:avLst/>
          </a:prstGeom>
        </p:spPr>
      </p:pic>
      <p:pic>
        <p:nvPicPr>
          <p:cNvPr id="11" name="Picture 10">
            <a:extLst>
              <a:ext uri="{FF2B5EF4-FFF2-40B4-BE49-F238E27FC236}">
                <a16:creationId xmlns:a16="http://schemas.microsoft.com/office/drawing/2014/main" id="{82FD9E34-7773-F7BD-7C44-496BB467D33C}"/>
              </a:ext>
            </a:extLst>
          </p:cNvPr>
          <p:cNvPicPr>
            <a:picLocks noChangeAspect="1"/>
          </p:cNvPicPr>
          <p:nvPr/>
        </p:nvPicPr>
        <p:blipFill>
          <a:blip r:embed="rId4"/>
          <a:stretch>
            <a:fillRect/>
          </a:stretch>
        </p:blipFill>
        <p:spPr>
          <a:xfrm>
            <a:off x="271919" y="3201053"/>
            <a:ext cx="4365395" cy="3395307"/>
          </a:xfrm>
          <a:prstGeom prst="rect">
            <a:avLst/>
          </a:prstGeom>
        </p:spPr>
      </p:pic>
      <p:pic>
        <p:nvPicPr>
          <p:cNvPr id="13" name="Picture 12">
            <a:extLst>
              <a:ext uri="{FF2B5EF4-FFF2-40B4-BE49-F238E27FC236}">
                <a16:creationId xmlns:a16="http://schemas.microsoft.com/office/drawing/2014/main" id="{2DCF881F-A9C4-E1BF-5B41-9DE3D476671E}"/>
              </a:ext>
            </a:extLst>
          </p:cNvPr>
          <p:cNvPicPr>
            <a:picLocks noChangeAspect="1"/>
          </p:cNvPicPr>
          <p:nvPr/>
        </p:nvPicPr>
        <p:blipFill>
          <a:blip r:embed="rId5"/>
          <a:stretch>
            <a:fillRect/>
          </a:stretch>
        </p:blipFill>
        <p:spPr>
          <a:xfrm>
            <a:off x="4944578" y="3201053"/>
            <a:ext cx="3696216" cy="1495634"/>
          </a:xfrm>
          <a:prstGeom prst="rect">
            <a:avLst/>
          </a:prstGeom>
        </p:spPr>
      </p:pic>
    </p:spTree>
    <p:extLst>
      <p:ext uri="{BB962C8B-B14F-4D97-AF65-F5344CB8AC3E}">
        <p14:creationId xmlns:p14="http://schemas.microsoft.com/office/powerpoint/2010/main" val="1152563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3F7B77-BDA7-6431-47E7-97A9BB5646CF}"/>
              </a:ext>
            </a:extLst>
          </p:cNvPr>
          <p:cNvPicPr>
            <a:picLocks noChangeAspect="1"/>
          </p:cNvPicPr>
          <p:nvPr/>
        </p:nvPicPr>
        <p:blipFill>
          <a:blip r:embed="rId2"/>
          <a:srcRect b="64166"/>
          <a:stretch>
            <a:fillRect/>
          </a:stretch>
        </p:blipFill>
        <p:spPr>
          <a:xfrm>
            <a:off x="364851" y="316285"/>
            <a:ext cx="7173326" cy="413058"/>
          </a:xfrm>
          <a:prstGeom prst="rect">
            <a:avLst/>
          </a:prstGeom>
        </p:spPr>
      </p:pic>
      <p:sp>
        <p:nvSpPr>
          <p:cNvPr id="9" name="TextBox 8">
            <a:extLst>
              <a:ext uri="{FF2B5EF4-FFF2-40B4-BE49-F238E27FC236}">
                <a16:creationId xmlns:a16="http://schemas.microsoft.com/office/drawing/2014/main" id="{3D7EBFC7-458D-3487-13B7-3410C813303E}"/>
              </a:ext>
            </a:extLst>
          </p:cNvPr>
          <p:cNvSpPr txBox="1"/>
          <p:nvPr/>
        </p:nvSpPr>
        <p:spPr>
          <a:xfrm>
            <a:off x="364851" y="2921169"/>
            <a:ext cx="6096000" cy="507831"/>
          </a:xfrm>
          <a:prstGeom prst="rect">
            <a:avLst/>
          </a:prstGeom>
          <a:noFill/>
        </p:spPr>
        <p:txBody>
          <a:bodyPr wrap="square">
            <a:spAutoFit/>
          </a:bodyPr>
          <a:lstStyle/>
          <a:p>
            <a:r>
              <a:rPr lang="en-US" sz="1350" b="0" i="0" dirty="0">
                <a:solidFill>
                  <a:srgbClr val="0A2540"/>
                </a:solidFill>
                <a:effectLst/>
                <a:latin typeface="Source Sans Pro" panose="020F0502020204030204" pitchFamily="34" charset="0"/>
              </a:rPr>
              <a:t>prevent linkage or re-identification attacks and use hierarchies to perform data generalization in categorical variables.</a:t>
            </a:r>
            <a:endParaRPr lang="en-US" dirty="0"/>
          </a:p>
        </p:txBody>
      </p:sp>
      <p:pic>
        <p:nvPicPr>
          <p:cNvPr id="11" name="Picture 10">
            <a:extLst>
              <a:ext uri="{FF2B5EF4-FFF2-40B4-BE49-F238E27FC236}">
                <a16:creationId xmlns:a16="http://schemas.microsoft.com/office/drawing/2014/main" id="{D99A6488-2118-EF0B-CDF3-2AEC720D2EB6}"/>
              </a:ext>
            </a:extLst>
          </p:cNvPr>
          <p:cNvPicPr>
            <a:picLocks noChangeAspect="1"/>
          </p:cNvPicPr>
          <p:nvPr/>
        </p:nvPicPr>
        <p:blipFill>
          <a:blip r:embed="rId2"/>
          <a:srcRect t="36779"/>
          <a:stretch>
            <a:fillRect/>
          </a:stretch>
        </p:blipFill>
        <p:spPr>
          <a:xfrm>
            <a:off x="364851" y="2192426"/>
            <a:ext cx="7173326" cy="728743"/>
          </a:xfrm>
          <a:prstGeom prst="rect">
            <a:avLst/>
          </a:prstGeom>
        </p:spPr>
      </p:pic>
      <p:pic>
        <p:nvPicPr>
          <p:cNvPr id="13" name="Picture 12">
            <a:extLst>
              <a:ext uri="{FF2B5EF4-FFF2-40B4-BE49-F238E27FC236}">
                <a16:creationId xmlns:a16="http://schemas.microsoft.com/office/drawing/2014/main" id="{BCFD7DC0-FA00-CDB0-26B3-A248A1910801}"/>
              </a:ext>
            </a:extLst>
          </p:cNvPr>
          <p:cNvPicPr>
            <a:picLocks noChangeAspect="1"/>
          </p:cNvPicPr>
          <p:nvPr/>
        </p:nvPicPr>
        <p:blipFill>
          <a:blip r:embed="rId3"/>
          <a:stretch>
            <a:fillRect/>
          </a:stretch>
        </p:blipFill>
        <p:spPr>
          <a:xfrm>
            <a:off x="431535" y="1332121"/>
            <a:ext cx="7106642" cy="704948"/>
          </a:xfrm>
          <a:prstGeom prst="rect">
            <a:avLst/>
          </a:prstGeom>
        </p:spPr>
      </p:pic>
      <p:sp>
        <p:nvSpPr>
          <p:cNvPr id="14" name="TextBox 13">
            <a:extLst>
              <a:ext uri="{FF2B5EF4-FFF2-40B4-BE49-F238E27FC236}">
                <a16:creationId xmlns:a16="http://schemas.microsoft.com/office/drawing/2014/main" id="{0660BDDD-B133-AA3D-DE1F-2397AF4406EA}"/>
              </a:ext>
            </a:extLst>
          </p:cNvPr>
          <p:cNvSpPr txBox="1"/>
          <p:nvPr/>
        </p:nvSpPr>
        <p:spPr>
          <a:xfrm>
            <a:off x="364851" y="962789"/>
            <a:ext cx="1602233" cy="369332"/>
          </a:xfrm>
          <a:prstGeom prst="rect">
            <a:avLst/>
          </a:prstGeom>
          <a:noFill/>
        </p:spPr>
        <p:txBody>
          <a:bodyPr wrap="none" rtlCol="0">
            <a:spAutoFit/>
          </a:bodyPr>
          <a:lstStyle/>
          <a:p>
            <a:r>
              <a:rPr lang="en-US" dirty="0"/>
              <a:t>1. K Anonymity</a:t>
            </a:r>
          </a:p>
        </p:txBody>
      </p:sp>
      <p:pic>
        <p:nvPicPr>
          <p:cNvPr id="16" name="Picture 15">
            <a:extLst>
              <a:ext uri="{FF2B5EF4-FFF2-40B4-BE49-F238E27FC236}">
                <a16:creationId xmlns:a16="http://schemas.microsoft.com/office/drawing/2014/main" id="{2D64A103-6832-A40F-513B-3D83E9708BFC}"/>
              </a:ext>
            </a:extLst>
          </p:cNvPr>
          <p:cNvPicPr>
            <a:picLocks noChangeAspect="1"/>
          </p:cNvPicPr>
          <p:nvPr/>
        </p:nvPicPr>
        <p:blipFill>
          <a:blip r:embed="rId4"/>
          <a:stretch>
            <a:fillRect/>
          </a:stretch>
        </p:blipFill>
        <p:spPr>
          <a:xfrm>
            <a:off x="6074229" y="3388500"/>
            <a:ext cx="5896798" cy="3153215"/>
          </a:xfrm>
          <a:prstGeom prst="rect">
            <a:avLst/>
          </a:prstGeom>
        </p:spPr>
      </p:pic>
      <p:pic>
        <p:nvPicPr>
          <p:cNvPr id="18" name="Picture 17">
            <a:extLst>
              <a:ext uri="{FF2B5EF4-FFF2-40B4-BE49-F238E27FC236}">
                <a16:creationId xmlns:a16="http://schemas.microsoft.com/office/drawing/2014/main" id="{A79C2342-5E4D-FEF2-B2D8-B914C86E434D}"/>
              </a:ext>
            </a:extLst>
          </p:cNvPr>
          <p:cNvPicPr>
            <a:picLocks noChangeAspect="1"/>
          </p:cNvPicPr>
          <p:nvPr/>
        </p:nvPicPr>
        <p:blipFill>
          <a:blip r:embed="rId5"/>
          <a:stretch>
            <a:fillRect/>
          </a:stretch>
        </p:blipFill>
        <p:spPr>
          <a:xfrm>
            <a:off x="431535" y="4499824"/>
            <a:ext cx="6248549" cy="594690"/>
          </a:xfrm>
          <a:prstGeom prst="rect">
            <a:avLst/>
          </a:prstGeom>
        </p:spPr>
      </p:pic>
      <p:pic>
        <p:nvPicPr>
          <p:cNvPr id="20" name="Picture 19">
            <a:extLst>
              <a:ext uri="{FF2B5EF4-FFF2-40B4-BE49-F238E27FC236}">
                <a16:creationId xmlns:a16="http://schemas.microsoft.com/office/drawing/2014/main" id="{4670D5BD-9000-0E62-D124-82130AF4C70F}"/>
              </a:ext>
            </a:extLst>
          </p:cNvPr>
          <p:cNvPicPr>
            <a:picLocks noChangeAspect="1"/>
          </p:cNvPicPr>
          <p:nvPr/>
        </p:nvPicPr>
        <p:blipFill>
          <a:blip r:embed="rId6"/>
          <a:stretch>
            <a:fillRect/>
          </a:stretch>
        </p:blipFill>
        <p:spPr>
          <a:xfrm>
            <a:off x="4663350" y="678258"/>
            <a:ext cx="7097115" cy="704948"/>
          </a:xfrm>
          <a:prstGeom prst="rect">
            <a:avLst/>
          </a:prstGeom>
        </p:spPr>
      </p:pic>
    </p:spTree>
    <p:extLst>
      <p:ext uri="{BB962C8B-B14F-4D97-AF65-F5344CB8AC3E}">
        <p14:creationId xmlns:p14="http://schemas.microsoft.com/office/powerpoint/2010/main" val="3458211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EEDBD9-DC48-46D4-49B0-B95FDE113D47}"/>
              </a:ext>
            </a:extLst>
          </p:cNvPr>
          <p:cNvPicPr>
            <a:picLocks noChangeAspect="1"/>
          </p:cNvPicPr>
          <p:nvPr/>
        </p:nvPicPr>
        <p:blipFill>
          <a:blip r:embed="rId2"/>
          <a:stretch>
            <a:fillRect/>
          </a:stretch>
        </p:blipFill>
        <p:spPr>
          <a:xfrm>
            <a:off x="227468" y="355569"/>
            <a:ext cx="6468378" cy="3686689"/>
          </a:xfrm>
          <a:prstGeom prst="rect">
            <a:avLst/>
          </a:prstGeom>
        </p:spPr>
      </p:pic>
      <p:pic>
        <p:nvPicPr>
          <p:cNvPr id="7" name="Picture 6">
            <a:extLst>
              <a:ext uri="{FF2B5EF4-FFF2-40B4-BE49-F238E27FC236}">
                <a16:creationId xmlns:a16="http://schemas.microsoft.com/office/drawing/2014/main" id="{AB93E177-37E1-01BC-68A0-4FD86FEB8F82}"/>
              </a:ext>
            </a:extLst>
          </p:cNvPr>
          <p:cNvPicPr>
            <a:picLocks noChangeAspect="1"/>
          </p:cNvPicPr>
          <p:nvPr/>
        </p:nvPicPr>
        <p:blipFill>
          <a:blip r:embed="rId3"/>
          <a:stretch>
            <a:fillRect/>
          </a:stretch>
        </p:blipFill>
        <p:spPr>
          <a:xfrm>
            <a:off x="227468" y="4326927"/>
            <a:ext cx="6592220" cy="2057687"/>
          </a:xfrm>
          <a:prstGeom prst="rect">
            <a:avLst/>
          </a:prstGeom>
        </p:spPr>
      </p:pic>
    </p:spTree>
    <p:extLst>
      <p:ext uri="{BB962C8B-B14F-4D97-AF65-F5344CB8AC3E}">
        <p14:creationId xmlns:p14="http://schemas.microsoft.com/office/powerpoint/2010/main" val="4265274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6E96E-8016-9D97-0565-6CD5C3559869}"/>
              </a:ext>
            </a:extLst>
          </p:cNvPr>
          <p:cNvSpPr>
            <a:spLocks noGrp="1"/>
          </p:cNvSpPr>
          <p:nvPr>
            <p:ph type="title"/>
          </p:nvPr>
        </p:nvSpPr>
        <p:spPr>
          <a:xfrm>
            <a:off x="598715" y="-277133"/>
            <a:ext cx="10515600" cy="1325563"/>
          </a:xfrm>
        </p:spPr>
        <p:txBody>
          <a:bodyPr/>
          <a:lstStyle/>
          <a:p>
            <a:r>
              <a:rPr lang="en-US" sz="2400" b="1" dirty="0">
                <a:latin typeface="+mn-lt"/>
                <a:ea typeface="+mn-ea"/>
                <a:cs typeface="+mn-cs"/>
              </a:rPr>
              <a:t>2. Differential Privacy (Classification)</a:t>
            </a:r>
          </a:p>
        </p:txBody>
      </p:sp>
      <p:sp>
        <p:nvSpPr>
          <p:cNvPr id="3" name="Content Placeholder 2">
            <a:extLst>
              <a:ext uri="{FF2B5EF4-FFF2-40B4-BE49-F238E27FC236}">
                <a16:creationId xmlns:a16="http://schemas.microsoft.com/office/drawing/2014/main" id="{FC9C81F7-F362-E7FC-21D3-8B79B3F7D88A}"/>
              </a:ext>
            </a:extLst>
          </p:cNvPr>
          <p:cNvSpPr>
            <a:spLocks noGrp="1"/>
          </p:cNvSpPr>
          <p:nvPr>
            <p:ph idx="1"/>
          </p:nvPr>
        </p:nvSpPr>
        <p:spPr>
          <a:xfrm>
            <a:off x="598715" y="881743"/>
            <a:ext cx="10755085" cy="5295220"/>
          </a:xfrm>
        </p:spPr>
        <p:txBody>
          <a:bodyPr>
            <a:normAutofit/>
          </a:bodyPr>
          <a:lstStyle/>
          <a:p>
            <a:pPr algn="just"/>
            <a:r>
              <a:rPr lang="en-US" sz="1800" dirty="0"/>
              <a:t>Local</a:t>
            </a:r>
          </a:p>
          <a:p>
            <a:pPr algn="just"/>
            <a:r>
              <a:rPr lang="en-US" sz="1800" dirty="0"/>
              <a:t>Global</a:t>
            </a:r>
          </a:p>
          <a:p>
            <a:pPr marL="0" indent="0" algn="just">
              <a:buNone/>
            </a:pPr>
            <a:r>
              <a:rPr lang="en-US" sz="1800" dirty="0"/>
              <a:t>Differentially private systems are assessed by a value represented by the Greek letter epsilon (</a:t>
            </a:r>
            <a:r>
              <a:rPr lang="en-US" sz="1800" dirty="0" err="1"/>
              <a:t>diffprivlib</a:t>
            </a:r>
            <a:r>
              <a:rPr lang="en-US" sz="1800" dirty="0"/>
              <a:t>). Differentially private machine learning models can still capture some underlying distributions corresponding to large datasets while still guaranteeing privacy with respect to individuals in data.</a:t>
            </a:r>
          </a:p>
        </p:txBody>
      </p:sp>
      <p:pic>
        <p:nvPicPr>
          <p:cNvPr id="7" name="Picture 6">
            <a:extLst>
              <a:ext uri="{FF2B5EF4-FFF2-40B4-BE49-F238E27FC236}">
                <a16:creationId xmlns:a16="http://schemas.microsoft.com/office/drawing/2014/main" id="{B8B6F1FE-860D-12EA-69C2-A9A6236C2A34}"/>
              </a:ext>
            </a:extLst>
          </p:cNvPr>
          <p:cNvPicPr>
            <a:picLocks noChangeAspect="1"/>
          </p:cNvPicPr>
          <p:nvPr/>
        </p:nvPicPr>
        <p:blipFill>
          <a:blip r:embed="rId2"/>
          <a:stretch>
            <a:fillRect/>
          </a:stretch>
        </p:blipFill>
        <p:spPr>
          <a:xfrm>
            <a:off x="598715" y="2884714"/>
            <a:ext cx="5712526" cy="2893790"/>
          </a:xfrm>
          <a:prstGeom prst="rect">
            <a:avLst/>
          </a:prstGeom>
        </p:spPr>
      </p:pic>
      <p:pic>
        <p:nvPicPr>
          <p:cNvPr id="9" name="Picture 8">
            <a:extLst>
              <a:ext uri="{FF2B5EF4-FFF2-40B4-BE49-F238E27FC236}">
                <a16:creationId xmlns:a16="http://schemas.microsoft.com/office/drawing/2014/main" id="{8642EDE2-6014-777B-A914-A1EBF04E2C30}"/>
              </a:ext>
            </a:extLst>
          </p:cNvPr>
          <p:cNvPicPr>
            <a:picLocks noChangeAspect="1"/>
          </p:cNvPicPr>
          <p:nvPr/>
        </p:nvPicPr>
        <p:blipFill>
          <a:blip r:embed="rId3"/>
          <a:stretch>
            <a:fillRect/>
          </a:stretch>
        </p:blipFill>
        <p:spPr>
          <a:xfrm>
            <a:off x="995549" y="5881647"/>
            <a:ext cx="5315692" cy="590632"/>
          </a:xfrm>
          <a:prstGeom prst="rect">
            <a:avLst/>
          </a:prstGeom>
        </p:spPr>
      </p:pic>
      <p:pic>
        <p:nvPicPr>
          <p:cNvPr id="11" name="Picture 10">
            <a:extLst>
              <a:ext uri="{FF2B5EF4-FFF2-40B4-BE49-F238E27FC236}">
                <a16:creationId xmlns:a16="http://schemas.microsoft.com/office/drawing/2014/main" id="{1D78330F-0279-0012-BF86-6F00E10CFF83}"/>
              </a:ext>
            </a:extLst>
          </p:cNvPr>
          <p:cNvPicPr>
            <a:picLocks noChangeAspect="1"/>
          </p:cNvPicPr>
          <p:nvPr/>
        </p:nvPicPr>
        <p:blipFill>
          <a:blip r:embed="rId4"/>
          <a:stretch>
            <a:fillRect/>
          </a:stretch>
        </p:blipFill>
        <p:spPr>
          <a:xfrm>
            <a:off x="6436574" y="3429001"/>
            <a:ext cx="5156711" cy="1310312"/>
          </a:xfrm>
          <a:prstGeom prst="rect">
            <a:avLst/>
          </a:prstGeom>
        </p:spPr>
      </p:pic>
      <p:pic>
        <p:nvPicPr>
          <p:cNvPr id="13" name="Picture 12">
            <a:extLst>
              <a:ext uri="{FF2B5EF4-FFF2-40B4-BE49-F238E27FC236}">
                <a16:creationId xmlns:a16="http://schemas.microsoft.com/office/drawing/2014/main" id="{7776782D-F72A-9A28-8EE4-6A36DAF5C40B}"/>
              </a:ext>
            </a:extLst>
          </p:cNvPr>
          <p:cNvPicPr>
            <a:picLocks noChangeAspect="1"/>
          </p:cNvPicPr>
          <p:nvPr/>
        </p:nvPicPr>
        <p:blipFill>
          <a:blip r:embed="rId5"/>
          <a:srcRect b="66250"/>
          <a:stretch>
            <a:fillRect/>
          </a:stretch>
        </p:blipFill>
        <p:spPr>
          <a:xfrm>
            <a:off x="6436574" y="3051711"/>
            <a:ext cx="5156711" cy="377290"/>
          </a:xfrm>
          <a:prstGeom prst="rect">
            <a:avLst/>
          </a:prstGeom>
        </p:spPr>
      </p:pic>
      <p:pic>
        <p:nvPicPr>
          <p:cNvPr id="15" name="Picture 14">
            <a:extLst>
              <a:ext uri="{FF2B5EF4-FFF2-40B4-BE49-F238E27FC236}">
                <a16:creationId xmlns:a16="http://schemas.microsoft.com/office/drawing/2014/main" id="{57131F0F-DDA1-42D2-7C9E-0F4EDC5D971E}"/>
              </a:ext>
            </a:extLst>
          </p:cNvPr>
          <p:cNvPicPr>
            <a:picLocks noChangeAspect="1"/>
          </p:cNvPicPr>
          <p:nvPr/>
        </p:nvPicPr>
        <p:blipFill>
          <a:blip r:embed="rId6"/>
          <a:stretch>
            <a:fillRect/>
          </a:stretch>
        </p:blipFill>
        <p:spPr>
          <a:xfrm>
            <a:off x="6436574" y="4750293"/>
            <a:ext cx="5712526" cy="1225964"/>
          </a:xfrm>
          <a:prstGeom prst="rect">
            <a:avLst/>
          </a:prstGeom>
        </p:spPr>
      </p:pic>
    </p:spTree>
    <p:extLst>
      <p:ext uri="{BB962C8B-B14F-4D97-AF65-F5344CB8AC3E}">
        <p14:creationId xmlns:p14="http://schemas.microsoft.com/office/powerpoint/2010/main" val="1952292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D4006-35D3-1613-1E76-6479F511A9B4}"/>
              </a:ext>
            </a:extLst>
          </p:cNvPr>
          <p:cNvSpPr>
            <a:spLocks noGrp="1"/>
          </p:cNvSpPr>
          <p:nvPr>
            <p:ph type="title"/>
          </p:nvPr>
        </p:nvSpPr>
        <p:spPr/>
        <p:txBody>
          <a:bodyPr/>
          <a:lstStyle/>
          <a:p>
            <a:r>
              <a:rPr lang="en-US" sz="2400" b="1" dirty="0">
                <a:latin typeface="+mn-lt"/>
                <a:ea typeface="+mn-ea"/>
                <a:cs typeface="+mn-cs"/>
              </a:rPr>
              <a:t>2. Differential Privacy (Clustering)</a:t>
            </a:r>
          </a:p>
        </p:txBody>
      </p:sp>
      <p:pic>
        <p:nvPicPr>
          <p:cNvPr id="5" name="Content Placeholder 4">
            <a:extLst>
              <a:ext uri="{FF2B5EF4-FFF2-40B4-BE49-F238E27FC236}">
                <a16:creationId xmlns:a16="http://schemas.microsoft.com/office/drawing/2014/main" id="{03EE0BF0-22BA-812A-AFB6-FC476BC8FAC6}"/>
              </a:ext>
            </a:extLst>
          </p:cNvPr>
          <p:cNvPicPr>
            <a:picLocks noGrp="1" noChangeAspect="1"/>
          </p:cNvPicPr>
          <p:nvPr>
            <p:ph idx="1"/>
          </p:nvPr>
        </p:nvPicPr>
        <p:blipFill>
          <a:blip r:embed="rId2"/>
          <a:srcRect t="24759"/>
          <a:stretch>
            <a:fillRect/>
          </a:stretch>
        </p:blipFill>
        <p:spPr>
          <a:xfrm>
            <a:off x="6990741" y="1883227"/>
            <a:ext cx="4363059" cy="1705927"/>
          </a:xfrm>
          <a:prstGeom prst="rect">
            <a:avLst/>
          </a:prstGeom>
        </p:spPr>
      </p:pic>
      <p:pic>
        <p:nvPicPr>
          <p:cNvPr id="7" name="Picture 6">
            <a:extLst>
              <a:ext uri="{FF2B5EF4-FFF2-40B4-BE49-F238E27FC236}">
                <a16:creationId xmlns:a16="http://schemas.microsoft.com/office/drawing/2014/main" id="{6B860274-17DF-FCD2-2906-15B50269A920}"/>
              </a:ext>
            </a:extLst>
          </p:cNvPr>
          <p:cNvPicPr>
            <a:picLocks noChangeAspect="1"/>
          </p:cNvPicPr>
          <p:nvPr/>
        </p:nvPicPr>
        <p:blipFill>
          <a:blip r:embed="rId3"/>
          <a:stretch>
            <a:fillRect/>
          </a:stretch>
        </p:blipFill>
        <p:spPr>
          <a:xfrm>
            <a:off x="746085" y="1883227"/>
            <a:ext cx="3820058" cy="3200847"/>
          </a:xfrm>
          <a:prstGeom prst="rect">
            <a:avLst/>
          </a:prstGeom>
        </p:spPr>
      </p:pic>
    </p:spTree>
    <p:extLst>
      <p:ext uri="{BB962C8B-B14F-4D97-AF65-F5344CB8AC3E}">
        <p14:creationId xmlns:p14="http://schemas.microsoft.com/office/powerpoint/2010/main" val="115938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C3742B-A737-F4FE-B186-4D33113E40DA}"/>
              </a:ext>
            </a:extLst>
          </p:cNvPr>
          <p:cNvPicPr>
            <a:picLocks noGrp="1" noChangeAspect="1"/>
          </p:cNvPicPr>
          <p:nvPr>
            <p:ph idx="1"/>
          </p:nvPr>
        </p:nvPicPr>
        <p:blipFill>
          <a:blip r:embed="rId2"/>
          <a:stretch>
            <a:fillRect/>
          </a:stretch>
        </p:blipFill>
        <p:spPr>
          <a:xfrm>
            <a:off x="914401" y="493260"/>
            <a:ext cx="5181600" cy="2550248"/>
          </a:xfrm>
          <a:prstGeom prst="rect">
            <a:avLst/>
          </a:prstGeom>
        </p:spPr>
      </p:pic>
      <p:pic>
        <p:nvPicPr>
          <p:cNvPr id="7" name="Picture 6">
            <a:extLst>
              <a:ext uri="{FF2B5EF4-FFF2-40B4-BE49-F238E27FC236}">
                <a16:creationId xmlns:a16="http://schemas.microsoft.com/office/drawing/2014/main" id="{CEFF0CBF-020B-40A7-C0B7-7BD3A2F95B71}"/>
              </a:ext>
            </a:extLst>
          </p:cNvPr>
          <p:cNvPicPr>
            <a:picLocks noChangeAspect="1"/>
          </p:cNvPicPr>
          <p:nvPr/>
        </p:nvPicPr>
        <p:blipFill>
          <a:blip r:embed="rId3"/>
          <a:stretch>
            <a:fillRect/>
          </a:stretch>
        </p:blipFill>
        <p:spPr>
          <a:xfrm>
            <a:off x="6544746" y="376393"/>
            <a:ext cx="4153480" cy="2143424"/>
          </a:xfrm>
          <a:prstGeom prst="rect">
            <a:avLst/>
          </a:prstGeom>
        </p:spPr>
      </p:pic>
      <p:pic>
        <p:nvPicPr>
          <p:cNvPr id="9" name="Picture 8">
            <a:extLst>
              <a:ext uri="{FF2B5EF4-FFF2-40B4-BE49-F238E27FC236}">
                <a16:creationId xmlns:a16="http://schemas.microsoft.com/office/drawing/2014/main" id="{76FA2D4F-34CC-C437-3708-7803C5920261}"/>
              </a:ext>
            </a:extLst>
          </p:cNvPr>
          <p:cNvPicPr>
            <a:picLocks noChangeAspect="1"/>
          </p:cNvPicPr>
          <p:nvPr/>
        </p:nvPicPr>
        <p:blipFill>
          <a:blip r:embed="rId4"/>
          <a:stretch>
            <a:fillRect/>
          </a:stretch>
        </p:blipFill>
        <p:spPr>
          <a:xfrm>
            <a:off x="5117852" y="3319362"/>
            <a:ext cx="6811326" cy="1438476"/>
          </a:xfrm>
          <a:prstGeom prst="rect">
            <a:avLst/>
          </a:prstGeom>
        </p:spPr>
      </p:pic>
      <p:pic>
        <p:nvPicPr>
          <p:cNvPr id="11" name="Picture 10">
            <a:extLst>
              <a:ext uri="{FF2B5EF4-FFF2-40B4-BE49-F238E27FC236}">
                <a16:creationId xmlns:a16="http://schemas.microsoft.com/office/drawing/2014/main" id="{7AF3463F-DD19-B466-E0B8-B949673234B8}"/>
              </a:ext>
            </a:extLst>
          </p:cNvPr>
          <p:cNvPicPr>
            <a:picLocks noChangeAspect="1"/>
          </p:cNvPicPr>
          <p:nvPr/>
        </p:nvPicPr>
        <p:blipFill>
          <a:blip r:embed="rId5"/>
          <a:stretch>
            <a:fillRect/>
          </a:stretch>
        </p:blipFill>
        <p:spPr>
          <a:xfrm>
            <a:off x="5117852" y="4757838"/>
            <a:ext cx="4134427" cy="1971950"/>
          </a:xfrm>
          <a:prstGeom prst="rect">
            <a:avLst/>
          </a:prstGeom>
        </p:spPr>
      </p:pic>
    </p:spTree>
    <p:extLst>
      <p:ext uri="{BB962C8B-B14F-4D97-AF65-F5344CB8AC3E}">
        <p14:creationId xmlns:p14="http://schemas.microsoft.com/office/powerpoint/2010/main" val="346158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933738-3251-2F87-BB9A-D94280C93014}"/>
              </a:ext>
            </a:extLst>
          </p:cNvPr>
          <p:cNvPicPr>
            <a:picLocks noChangeAspect="1"/>
          </p:cNvPicPr>
          <p:nvPr/>
        </p:nvPicPr>
        <p:blipFill>
          <a:blip r:embed="rId2"/>
          <a:stretch>
            <a:fillRect/>
          </a:stretch>
        </p:blipFill>
        <p:spPr>
          <a:xfrm>
            <a:off x="2133600" y="701045"/>
            <a:ext cx="7306695" cy="5782482"/>
          </a:xfrm>
          <a:prstGeom prst="rect">
            <a:avLst/>
          </a:prstGeom>
        </p:spPr>
      </p:pic>
    </p:spTree>
    <p:extLst>
      <p:ext uri="{BB962C8B-B14F-4D97-AF65-F5344CB8AC3E}">
        <p14:creationId xmlns:p14="http://schemas.microsoft.com/office/powerpoint/2010/main" val="820203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A5BA6B-EF43-248B-5BD6-1EDD9170FBA0}"/>
              </a:ext>
            </a:extLst>
          </p:cNvPr>
          <p:cNvPicPr>
            <a:picLocks noGrp="1" noChangeAspect="1"/>
          </p:cNvPicPr>
          <p:nvPr>
            <p:ph idx="1"/>
          </p:nvPr>
        </p:nvPicPr>
        <p:blipFill>
          <a:blip r:embed="rId2"/>
          <a:stretch>
            <a:fillRect/>
          </a:stretch>
        </p:blipFill>
        <p:spPr>
          <a:xfrm>
            <a:off x="0" y="172759"/>
            <a:ext cx="6716486" cy="3748736"/>
          </a:xfrm>
          <a:prstGeom prst="rect">
            <a:avLst/>
          </a:prstGeom>
        </p:spPr>
      </p:pic>
      <p:pic>
        <p:nvPicPr>
          <p:cNvPr id="6" name="Picture 5">
            <a:extLst>
              <a:ext uri="{FF2B5EF4-FFF2-40B4-BE49-F238E27FC236}">
                <a16:creationId xmlns:a16="http://schemas.microsoft.com/office/drawing/2014/main" id="{EEF62A47-6108-95C4-89CC-10B0E0A14690}"/>
              </a:ext>
            </a:extLst>
          </p:cNvPr>
          <p:cNvPicPr>
            <a:picLocks noChangeAspect="1"/>
          </p:cNvPicPr>
          <p:nvPr/>
        </p:nvPicPr>
        <p:blipFill>
          <a:blip r:embed="rId3"/>
          <a:stretch>
            <a:fillRect/>
          </a:stretch>
        </p:blipFill>
        <p:spPr>
          <a:xfrm>
            <a:off x="6487885" y="3594951"/>
            <a:ext cx="5704115" cy="3147356"/>
          </a:xfrm>
          <a:prstGeom prst="rect">
            <a:avLst/>
          </a:prstGeom>
        </p:spPr>
      </p:pic>
      <p:pic>
        <p:nvPicPr>
          <p:cNvPr id="3" name="Picture 2">
            <a:extLst>
              <a:ext uri="{FF2B5EF4-FFF2-40B4-BE49-F238E27FC236}">
                <a16:creationId xmlns:a16="http://schemas.microsoft.com/office/drawing/2014/main" id="{04126836-16C7-DE3D-A1C1-262951CA4D43}"/>
              </a:ext>
            </a:extLst>
          </p:cNvPr>
          <p:cNvPicPr>
            <a:picLocks noChangeAspect="1"/>
          </p:cNvPicPr>
          <p:nvPr/>
        </p:nvPicPr>
        <p:blipFill>
          <a:blip r:embed="rId4"/>
          <a:stretch>
            <a:fillRect/>
          </a:stretch>
        </p:blipFill>
        <p:spPr>
          <a:xfrm>
            <a:off x="936171" y="4004138"/>
            <a:ext cx="4342423" cy="2328981"/>
          </a:xfrm>
          <a:prstGeom prst="rect">
            <a:avLst/>
          </a:prstGeom>
        </p:spPr>
      </p:pic>
      <p:pic>
        <p:nvPicPr>
          <p:cNvPr id="7" name="Picture 6">
            <a:extLst>
              <a:ext uri="{FF2B5EF4-FFF2-40B4-BE49-F238E27FC236}">
                <a16:creationId xmlns:a16="http://schemas.microsoft.com/office/drawing/2014/main" id="{26A09516-1729-9DDA-E8DB-67399CC810BC}"/>
              </a:ext>
            </a:extLst>
          </p:cNvPr>
          <p:cNvPicPr>
            <a:picLocks noChangeAspect="1"/>
          </p:cNvPicPr>
          <p:nvPr/>
        </p:nvPicPr>
        <p:blipFill>
          <a:blip r:embed="rId5"/>
          <a:stretch>
            <a:fillRect/>
          </a:stretch>
        </p:blipFill>
        <p:spPr>
          <a:xfrm>
            <a:off x="7005991" y="650196"/>
            <a:ext cx="4667901" cy="2467319"/>
          </a:xfrm>
          <a:prstGeom prst="rect">
            <a:avLst/>
          </a:prstGeom>
        </p:spPr>
      </p:pic>
    </p:spTree>
    <p:extLst>
      <p:ext uri="{BB962C8B-B14F-4D97-AF65-F5344CB8AC3E}">
        <p14:creationId xmlns:p14="http://schemas.microsoft.com/office/powerpoint/2010/main" val="2975977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TotalTime>
  <Words>266</Words>
  <Application>Microsoft Office PowerPoint</Application>
  <PresentationFormat>Widescreen</PresentationFormat>
  <Paragraphs>24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Source Sans Pro</vt:lpstr>
      <vt:lpstr>Times New Roman</vt:lpstr>
      <vt:lpstr>Office Theme</vt:lpstr>
      <vt:lpstr>Artificial Intelligence</vt:lpstr>
      <vt:lpstr>Data Types</vt:lpstr>
      <vt:lpstr>Anonymization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Differential Privacy (Classification)</vt:lpstr>
      <vt:lpstr>2. Differential Privacy (Clustering)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contentwriter1244@outlook.com</dc:creator>
  <cp:lastModifiedBy>contentwriter1244@outlook.com</cp:lastModifiedBy>
  <cp:revision>10</cp:revision>
  <dcterms:created xsi:type="dcterms:W3CDTF">2026-07-22T13:46:43Z</dcterms:created>
  <dcterms:modified xsi:type="dcterms:W3CDTF">2026-07-22T21:20:52Z</dcterms:modified>
</cp:coreProperties>
</file>